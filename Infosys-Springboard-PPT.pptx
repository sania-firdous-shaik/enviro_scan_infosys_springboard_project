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69234" y="4794069"/>
            <a:ext cx="3241766" cy="1629108"/>
          </a:xfrm>
        </p:spPr>
        <p:txBody>
          <a:bodyPr/>
          <a:lstStyle/>
          <a:p>
            <a:r>
              <a:rPr lang="en-US" i="1" dirty="0" smtClean="0"/>
              <a:t>Name: </a:t>
            </a:r>
            <a:r>
              <a:rPr lang="en-US" i="1" dirty="0" err="1" smtClean="0"/>
              <a:t>Kuldip</a:t>
            </a:r>
            <a:r>
              <a:rPr lang="en-US" i="1" dirty="0" smtClean="0"/>
              <a:t> </a:t>
            </a:r>
            <a:r>
              <a:rPr lang="en-US" i="1" dirty="0" err="1"/>
              <a:t>Kishor</a:t>
            </a:r>
            <a:r>
              <a:rPr lang="en-US" i="1" dirty="0"/>
              <a:t> </a:t>
            </a:r>
            <a:r>
              <a:rPr lang="en-US" i="1" dirty="0" err="1"/>
              <a:t>Mahale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 smtClean="0"/>
              <a:t>Roll </a:t>
            </a:r>
            <a:r>
              <a:rPr lang="en-US" i="1" dirty="0"/>
              <a:t>No: 60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College:</a:t>
            </a:r>
            <a:r>
              <a:rPr lang="en-US" dirty="0" smtClean="0"/>
              <a:t> </a:t>
            </a:r>
            <a:r>
              <a:rPr lang="en-US" i="1" dirty="0" smtClean="0"/>
              <a:t>R</a:t>
            </a:r>
            <a:r>
              <a:rPr lang="en-US" i="1" dirty="0"/>
              <a:t>. C. Patel Institute of Technology, </a:t>
            </a:r>
            <a:r>
              <a:rPr lang="en-US" i="1" dirty="0" err="1"/>
              <a:t>Shirpur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7828" y="339634"/>
            <a:ext cx="74588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EnviroScan</a:t>
            </a:r>
            <a:r>
              <a:rPr lang="en-US" sz="3600" b="1" dirty="0"/>
              <a:t>: AI-Powered Pollution Source Identifier using Geospatial Analytics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3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97" y="1045028"/>
            <a:ext cx="9934303" cy="10398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Statement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Pollution monitoring systems measure pollutant levels but fail to identify pollution </a:t>
            </a:r>
            <a:r>
              <a:rPr lang="en-US" sz="2400" b="1" dirty="0"/>
              <a:t>sources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/>
              <a:t>EnviroScan</a:t>
            </a:r>
            <a:r>
              <a:rPr lang="en-US" sz="2400" dirty="0"/>
              <a:t> uses </a:t>
            </a:r>
            <a:r>
              <a:rPr lang="en-US" sz="2400" b="1" dirty="0"/>
              <a:t>Machine Learning, weather data, and geospatial analytics</a:t>
            </a:r>
            <a:r>
              <a:rPr lang="en-US" sz="2400" dirty="0"/>
              <a:t> to predict likely sources such as </a:t>
            </a:r>
            <a:r>
              <a:rPr lang="en-US" sz="2400" b="1" dirty="0"/>
              <a:t>industrial</a:t>
            </a:r>
            <a:r>
              <a:rPr lang="en-US" sz="2400" dirty="0"/>
              <a:t>, </a:t>
            </a:r>
            <a:r>
              <a:rPr lang="en-US" sz="2400" b="1" dirty="0"/>
              <a:t>vehicular</a:t>
            </a:r>
            <a:r>
              <a:rPr lang="en-US" sz="2400" dirty="0"/>
              <a:t>, </a:t>
            </a:r>
            <a:r>
              <a:rPr lang="en-US" sz="2400" b="1" dirty="0"/>
              <a:t>agricultural</a:t>
            </a:r>
            <a:r>
              <a:rPr lang="en-US" sz="2400" dirty="0"/>
              <a:t>, or </a:t>
            </a:r>
            <a:r>
              <a:rPr lang="en-US" sz="2400" b="1" dirty="0"/>
              <a:t>natural</a:t>
            </a:r>
            <a:r>
              <a:rPr lang="en-US" sz="2400" dirty="0"/>
              <a:t> causes.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system supports </a:t>
            </a:r>
            <a:r>
              <a:rPr lang="en-US" sz="2400" b="1" dirty="0"/>
              <a:t>data-driven environmental decision-making</a:t>
            </a:r>
            <a:r>
              <a:rPr lang="en-US" sz="2400" dirty="0"/>
              <a:t> through real-time analytics and alerts.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 / Outcomes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 likely sources of pollution.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Display real-time pollution hotspots and risk zones on interactive maps.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Trigger alerts based on threshold exceedance.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Support evidence-based environmental policy-making.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Generate reports and visualizations for agencies.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3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1026" name="Picture 2" descr="https://private-user-images.githubusercontent.com/188440424/511174648-cdf75629-2fc5-4f65-b96d-7e2df9b289db.png?jwt=eyJ0eXAiOiJKV1QiLCJhbGciOiJIUzI1NiJ9.eyJpc3MiOiJnaXRodWIuY29tIiwiYXVkIjoicmF3LmdpdGh1YnVzZXJjb250ZW50LmNvbSIsImtleSI6ImtleTUiLCJleHAiOjE3NjI3NTEwNDMsIm5iZiI6MTc2Mjc1MDc0MywicGF0aCI6Ii8xODg0NDA0MjQvNTExMTc0NjQ4LWNkZjc1NjI5LTJmYzUtNGY2NS1iOTZkLTdlMmRmOWIyODlkYi5wbmc_WC1BbXotQWxnb3JpdGhtPUFXUzQtSE1BQy1TSEEyNTYmWC1BbXotQ3JlZGVudGlhbD1BS0lBVkNPRFlMU0E1M1BRSzRaQSUyRjIwMjUxMTEwJTJGdXMtZWFzdC0xJTJGczMlMkZhd3M0X3JlcXVlc3QmWC1BbXotRGF0ZT0yMDI1MTExMFQwNDU5MDNaJlgtQW16LUV4cGlyZXM9MzAwJlgtQW16LVNpZ25hdHVyZT0xNDc3Yjc0OWVmZmZiZTUyOTJhOWMwNTc1ZTBjYTliNjAzZjhmMjhhNDkyMDEyMGQ3MDg4NjY0NmI5MTYwNjg3JlgtQW16LVNpZ25lZEhlYWRlcnM9aG9zdCJ9.asqk87WUT0F3-6SkFWTY8cZFmjBaBG09ehxxTmk33L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526" y="1622768"/>
            <a:ext cx="5251268" cy="433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500" y="694944"/>
            <a:ext cx="9720072" cy="1499616"/>
          </a:xfrm>
        </p:spPr>
        <p:txBody>
          <a:bodyPr/>
          <a:lstStyle/>
          <a:p>
            <a:r>
              <a:rPr lang="en-US" b="1" dirty="0"/>
              <a:t>Data Sources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605399"/>
              </p:ext>
            </p:extLst>
          </p:nvPr>
        </p:nvGraphicFramePr>
        <p:xfrm>
          <a:off x="2704012" y="2194560"/>
          <a:ext cx="745598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329">
                  <a:extLst>
                    <a:ext uri="{9D8B030D-6E8A-4147-A177-3AD203B41FA5}">
                      <a16:colId xmlns:a16="http://schemas.microsoft.com/office/drawing/2014/main" val="895659851"/>
                    </a:ext>
                  </a:extLst>
                </a:gridCol>
                <a:gridCol w="2485329">
                  <a:extLst>
                    <a:ext uri="{9D8B030D-6E8A-4147-A177-3AD203B41FA5}">
                      <a16:colId xmlns:a16="http://schemas.microsoft.com/office/drawing/2014/main" val="1568874630"/>
                    </a:ext>
                  </a:extLst>
                </a:gridCol>
                <a:gridCol w="2485329">
                  <a:extLst>
                    <a:ext uri="{9D8B030D-6E8A-4147-A177-3AD203B41FA5}">
                      <a16:colId xmlns:a16="http://schemas.microsoft.com/office/drawing/2014/main" val="1938539839"/>
                    </a:ext>
                  </a:extLst>
                </a:gridCol>
              </a:tblGrid>
              <a:tr h="363929">
                <a:tc>
                  <a:txBody>
                    <a:bodyPr/>
                    <a:lstStyle/>
                    <a:p>
                      <a:r>
                        <a:rPr lang="en-US" dirty="0" smtClean="0"/>
                        <a:t>Source	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Parameters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302416"/>
                  </a:ext>
                </a:extLst>
              </a:tr>
              <a:tr h="519899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OpenAQ</a:t>
                      </a:r>
                      <a:r>
                        <a:rPr lang="en-US" dirty="0" smtClean="0"/>
                        <a:t> 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Air Quality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PM2.5, PM10, NO₂, CO, SO₂, O₃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03562"/>
                  </a:ext>
                </a:extLst>
              </a:tr>
              <a:tr h="519899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OpenWeatherMap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Temperature, Humidity, Wind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255145"/>
                  </a:ext>
                </a:extLst>
              </a:tr>
              <a:tr h="519899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OpenStreetMap</a:t>
                      </a:r>
                      <a:r>
                        <a:rPr lang="en-US" dirty="0" smtClean="0"/>
                        <a:t> (</a:t>
                      </a:r>
                      <a:r>
                        <a:rPr lang="en-US" dirty="0" err="1" smtClean="0"/>
                        <a:t>OSMnx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Geospatial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Roads, Industries, Farms, Dump Sites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41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28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331" y="1058090"/>
            <a:ext cx="10051869" cy="102674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b="1" dirty="0" smtClean="0"/>
              <a:t>Milestone </a:t>
            </a:r>
            <a:r>
              <a:rPr lang="en-US" b="1" dirty="0"/>
              <a:t>1: Data Collection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Collected pollution, weather &amp; GPS data via APIs.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Tagged with coordinates &amp; timestamps.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Stored in CSV/JSON for modeling.</a:t>
            </a:r>
            <a:br>
              <a:rPr lang="en-US" dirty="0"/>
            </a:br>
            <a:r>
              <a:rPr lang="en-US" i="1" dirty="0"/>
              <a:t>(Insert dataset screenshot)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4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40526"/>
            <a:ext cx="9720072" cy="114430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Milestone </a:t>
            </a:r>
            <a:r>
              <a:rPr lang="en-US" b="1" dirty="0"/>
              <a:t>2: Data Cleaning &amp; Feature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Removed duplicates &amp; filled missing values.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Standardized units &amp; timestamps.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Added spatial &amp; temporal features.</a:t>
            </a:r>
            <a:br>
              <a:rPr lang="en-US" dirty="0"/>
            </a:br>
            <a:r>
              <a:rPr lang="en-US" i="1" dirty="0"/>
              <a:t>(Insert chart/table placeholder)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9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6650"/>
            <a:ext cx="9720072" cy="111818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Milestone </a:t>
            </a:r>
            <a:r>
              <a:rPr lang="en-US" b="1" dirty="0"/>
              <a:t>3: Source Labeling &amp; Simulation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123780"/>
              </p:ext>
            </p:extLst>
          </p:nvPr>
        </p:nvGraphicFramePr>
        <p:xfrm>
          <a:off x="1024127" y="2403567"/>
          <a:ext cx="9720072" cy="2945356"/>
        </p:xfrm>
        <a:graphic>
          <a:graphicData uri="http://schemas.openxmlformats.org/drawingml/2006/table">
            <a:tbl>
              <a:tblPr/>
              <a:tblGrid>
                <a:gridCol w="3240024">
                  <a:extLst>
                    <a:ext uri="{9D8B030D-6E8A-4147-A177-3AD203B41FA5}">
                      <a16:colId xmlns:a16="http://schemas.microsoft.com/office/drawing/2014/main" val="1100783897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1065562988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2549141579"/>
                    </a:ext>
                  </a:extLst>
                </a:gridCol>
              </a:tblGrid>
              <a:tr h="512236"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Context</a:t>
                      </a:r>
                    </a:p>
                  </a:txBody>
                  <a:tcPr anchor="b">
                    <a:lnL w="12700" cap="flat" cmpd="sng" algn="ctr">
                      <a:solidFill>
                        <a:srgbClr val="80F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F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F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Rule</a:t>
                      </a:r>
                    </a:p>
                  </a:txBody>
                  <a:tcPr anchor="b">
                    <a:lnL w="12700" cap="flat" cmpd="sng" algn="ctr">
                      <a:solidFill>
                        <a:srgbClr val="C0F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F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Label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F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366477"/>
                  </a:ext>
                </a:extLst>
              </a:tr>
              <a:tr h="512236"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Near road + high NO₂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F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F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Vehicular pollution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0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Vehicular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77121"/>
                  </a:ext>
                </a:extLst>
              </a:tr>
              <a:tr h="512236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Near factory + high SO₂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Industrial emission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1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Industrial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876178"/>
                  </a:ext>
                </a:extLst>
              </a:tr>
              <a:tr h="896412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Farmland + dry season + high PM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1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1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Crop burning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1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1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Agricultural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304740"/>
                  </a:ext>
                </a:extLst>
              </a:tr>
              <a:tr h="512236"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Remote + no activity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Natural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Natural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2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09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9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1097280"/>
            <a:ext cx="9908177" cy="9875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b="1" dirty="0" smtClean="0"/>
              <a:t>Milestone </a:t>
            </a:r>
            <a:r>
              <a:rPr lang="en-US" b="1" dirty="0"/>
              <a:t>4: Model Training &amp; Source Prediction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Trained models: Random Forest, </a:t>
            </a:r>
            <a:r>
              <a:rPr lang="en-US" dirty="0" err="1"/>
              <a:t>XGBoost</a:t>
            </a:r>
            <a:r>
              <a:rPr lang="en-US" dirty="0"/>
              <a:t>, Decision Tree.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Inputs: pollutant + weather + proximity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Evaluated using Accuracy, Precision, Recall, F1-score.</a:t>
            </a:r>
            <a:br>
              <a:rPr lang="en-US" dirty="0"/>
            </a:br>
            <a:r>
              <a:rPr lang="en-US" i="1" dirty="0"/>
              <a:t>(Insert confusion matrix/accuracy chart)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9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Milestone </a:t>
            </a:r>
            <a:r>
              <a:rPr lang="en-US" b="1" dirty="0"/>
              <a:t>5: Geospatial Mapping &amp; </a:t>
            </a:r>
            <a:r>
              <a:rPr lang="en-US" b="1" dirty="0" err="1"/>
              <a:t>Heatmap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Built </a:t>
            </a:r>
            <a:r>
              <a:rPr lang="en-US" dirty="0" err="1"/>
              <a:t>heatmaps</a:t>
            </a:r>
            <a:r>
              <a:rPr lang="en-US" dirty="0"/>
              <a:t> with Folium/</a:t>
            </a:r>
            <a:r>
              <a:rPr lang="en-US" dirty="0" err="1"/>
              <a:t>GeoPandas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Displayed pollution sources via markers.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Gradient colors show pollutant intensity.</a:t>
            </a:r>
            <a:br>
              <a:rPr lang="en-US" dirty="0"/>
            </a:br>
            <a:r>
              <a:rPr lang="en-US" i="1" dirty="0"/>
              <a:t>(Insert </a:t>
            </a:r>
            <a:r>
              <a:rPr lang="en-US" i="1" dirty="0" err="1"/>
              <a:t>heatmap</a:t>
            </a:r>
            <a:r>
              <a:rPr lang="en-US" i="1" dirty="0"/>
              <a:t> visualization)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0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Milestone </a:t>
            </a:r>
            <a:r>
              <a:rPr lang="en-US" b="1" dirty="0"/>
              <a:t>6: Dashboard &amp; Alerts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Developed </a:t>
            </a:r>
            <a:r>
              <a:rPr lang="en-US" dirty="0" err="1"/>
              <a:t>Streamlit</a:t>
            </a:r>
            <a:r>
              <a:rPr lang="en-US" dirty="0"/>
              <a:t>-based live dashboard.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Inputs: city/coordinates/time range.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Shows alerts, charts &amp; predictions.</a:t>
            </a:r>
            <a:br>
              <a:rPr lang="en-US" dirty="0"/>
            </a:br>
            <a:r>
              <a:rPr lang="en-US" i="1" dirty="0"/>
              <a:t>(Insert dashboard screenshot)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2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Successfully built an AI-driven pollution source identification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Integrated data collection, cleaning, labeling, modeling &amp;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Achieved accurate source prediction using ML algorithms.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Geospatial mapping and dashboards enable real-time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Supports sustainable decision-making aligned with SDG goals.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(Insert thank-you or project logo image)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631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40</TotalTime>
  <Words>335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Tw Cen MT</vt:lpstr>
      <vt:lpstr>Tw Cen MT Condensed</vt:lpstr>
      <vt:lpstr>Wingdings</vt:lpstr>
      <vt:lpstr>Wingdings 3</vt:lpstr>
      <vt:lpstr>Integral</vt:lpstr>
      <vt:lpstr>PowerPoint Presentation</vt:lpstr>
      <vt:lpstr>Project Statement </vt:lpstr>
      <vt:lpstr>Project Objectives / Outcomes </vt:lpstr>
      <vt:lpstr>System Architecture </vt:lpstr>
      <vt:lpstr>Data Sources </vt:lpstr>
      <vt:lpstr> Milestone 1: Data Collection </vt:lpstr>
      <vt:lpstr>Milestone 2: Data Cleaning &amp; Feature Engineering </vt:lpstr>
      <vt:lpstr>Milestone 3: Source Labeling &amp; Simulation </vt:lpstr>
      <vt:lpstr> Milestone 4: Model Training &amp; Source Prediction </vt:lpstr>
      <vt:lpstr>Milestone 5: Geospatial Mapping &amp; Heatmap </vt:lpstr>
      <vt:lpstr>Milestone 6: Dashboard &amp; Alerts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4</cp:revision>
  <dcterms:created xsi:type="dcterms:W3CDTF">2025-11-10T04:51:22Z</dcterms:created>
  <dcterms:modified xsi:type="dcterms:W3CDTF">2025-11-13T04:23:24Z</dcterms:modified>
</cp:coreProperties>
</file>